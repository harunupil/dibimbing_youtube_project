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DC8"/>
    <a:srgbClr val="F1F3FA"/>
    <a:srgbClr val="D9D9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A2C060-D4A0-4496-9CEE-370F0B7FC775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AECA37-3731-4B40-9A78-0E262DB16F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738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ECA37-3731-4B40-9A78-0E262DB16FF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1762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8A850-8C3A-2FC9-A3A8-278D25331B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D88433-A18F-B539-7144-1AC10A3C4A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0A7B4-854E-B963-2215-7349F095F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901E-26CE-412D-9766-B3A05E4F9A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61F25-6E65-9233-F3DF-5DA59AB53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53BE5-6F07-5881-9BA3-89EFC5E14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8BD32-8D13-4B1C-874A-F86CC01647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11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88FE0-1788-1552-C5A1-039CFD7FB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90816-0587-D115-100A-A033F9C8D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A369B-DF42-556A-97DE-E071EB39A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901E-26CE-412D-9766-B3A05E4F9A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AC6CB-154B-5D16-1606-D63BE8D8B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517B9-4427-2CEF-31EE-44442158B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8BD32-8D13-4B1C-874A-F86CC01647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120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EAF2D-0D18-FD57-28AE-7BC229DE0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C9F86-C06C-54EC-5802-1FC942495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21AAF-2BC3-1674-4368-7F042D9E8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901E-26CE-412D-9766-B3A05E4F9A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B18B5-5A91-1A2F-433F-A522AE7D0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92045-FAB3-C348-CB90-CE5FC35E9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8BD32-8D13-4B1C-874A-F86CC01647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5062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D4AEF-C1B4-853E-F862-96C283348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4A277-052C-2156-DE4C-89DD405182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98BD1A-B43E-C5FF-80BD-453CFE82D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2D8176-44C6-D8A3-EF9E-ABE6F2C61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901E-26CE-412D-9766-B3A05E4F9A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6310D-A005-1D06-DB19-B26A03CCD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9E252-E7C2-C6A8-CABF-47CCEFD47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8BD32-8D13-4B1C-874A-F86CC01647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341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E2F0-E6DB-F147-AC38-5DCCF0CD0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AF7E78-61B3-8FCC-FB8B-AF90FBF78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D9ACA-7A4C-3D60-75B4-AAAEEE0C9C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6C7F51-3772-63D6-9051-DFDAB92A8D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0DC39B-270D-C00D-A294-D7340F2678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58DBF1-0742-B433-1D0D-74B6A6BDD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901E-26CE-412D-9766-B3A05E4F9A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54F68F-768D-4B8C-CCE0-CF708685B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F56BC1-E236-8B56-3D30-89430134C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8BD32-8D13-4B1C-874A-F86CC01647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1460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54C3A-836F-8E7E-A7E6-E1C834B3A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B08EDC-843F-A78E-AEEC-E8DCF3B4B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901E-26CE-412D-9766-B3A05E4F9A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220828-7F46-37E8-4A89-3A2254EB9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9F0131-D0B9-B8D3-E3C0-82B807E8E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8BD32-8D13-4B1C-874A-F86CC01647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0080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3C25C0-7843-C258-577D-35CD2C603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901E-26CE-412D-9766-B3A05E4F9A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C42DD7-4B94-9493-D710-D62EB34A7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D81B0-9CE1-FC89-4F3E-9F4DD999A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8BD32-8D13-4B1C-874A-F86CC01647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4827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28D95-F442-BB74-47C3-666CEBFD8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99376-261E-BC98-33EA-DFC946A66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647C3-5F43-C375-9BE2-DDEDE1A66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03D5A4-6450-064F-67DE-A7B8582EC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901E-26CE-412D-9766-B3A05E4F9A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716AA-AB6C-DF02-3123-50CDF17A8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FE5D2-D84D-515C-0FFE-D9867B5CF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8BD32-8D13-4B1C-874A-F86CC01647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8648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FDC28-454D-6585-C2CA-319B0261E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694BB-0885-B3D9-FDDF-0FD6F7F523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16A83F-07B4-6AD7-F57D-F86CBB369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2FE366-8807-79FE-1FF8-13A3474FC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901E-26CE-412D-9766-B3A05E4F9A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78FBB2-756C-5199-54B6-55F778CA3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39A8F5-36AE-B472-C9F4-60AB22440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8BD32-8D13-4B1C-874A-F86CC01647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0881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ED991-1B0B-21F2-0644-5177B5690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312F36-2BFC-EDC9-CEC6-48F66B8A53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C5054-7FC3-24C0-9FFF-A1BA2EBA2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901E-26CE-412D-9766-B3A05E4F9A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F69E1-7507-14E8-5344-2E879C03B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3BF3B-3F39-52A4-4402-6F928833A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8BD32-8D13-4B1C-874A-F86CC01647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132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88D0D4-C3B2-E431-9AB7-30F2BC1520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CCD62B-D72E-CF5E-A202-B74A2D41F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3401F-DC9A-FD09-77C0-B3187C1CB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901E-26CE-412D-9766-B3A05E4F9A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FCF0D-2EA1-3C82-7216-2DAAF21AB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2BA5E-9365-4AD2-F4A6-F02681355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8BD32-8D13-4B1C-874A-F86CC01647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7199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47A68F-42A3-83BF-98D6-C30D78378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5068C-BC44-C5B4-71E3-BEF91CE04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0D4BD-D548-C094-018A-A00022A405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B901E-26CE-412D-9766-B3A05E4F9A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2E02B-9BB4-A07A-7AAD-F3344E8092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6BCD1-56F6-5426-3263-1E8841CEBD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8BD32-8D13-4B1C-874A-F86CC01647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6434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D36-DB20-41F6-BD60-D1F5E94D10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T Hoves"/>
              </a:rPr>
              <a:t>DE Final Project</a:t>
            </a:r>
            <a:br>
              <a:rPr lang="en-US" sz="3200" dirty="0">
                <a:latin typeface="TT Hoves"/>
              </a:rPr>
            </a:br>
            <a:br>
              <a:rPr lang="en-US" sz="3200" dirty="0">
                <a:latin typeface="TT Hoves"/>
              </a:rPr>
            </a:br>
            <a:br>
              <a:rPr lang="en-US" sz="3200" dirty="0">
                <a:latin typeface="TT Hoves"/>
              </a:rPr>
            </a:br>
            <a:r>
              <a:rPr lang="en-US" sz="2800" b="1" dirty="0">
                <a:solidFill>
                  <a:srgbClr val="292DC8"/>
                </a:solidFill>
                <a:latin typeface="TT Hoves"/>
              </a:rPr>
              <a:t>YouTube Trending Video Analytics &amp; Sentiment Pipeline </a:t>
            </a:r>
            <a:endParaRPr lang="en-GB" sz="2800" b="1" dirty="0">
              <a:solidFill>
                <a:srgbClr val="292DC8"/>
              </a:solidFill>
              <a:latin typeface="TT Hove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10CCD8-1625-9B79-4B8B-C6C56845F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3068" y="4765012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Luthfi Arif R.</a:t>
            </a:r>
            <a:endParaRPr lang="en-GB" dirty="0"/>
          </a:p>
        </p:txBody>
      </p:sp>
      <p:pic>
        <p:nvPicPr>
          <p:cNvPr id="1026" name="Picture 2" descr="Dibimbing Form">
            <a:extLst>
              <a:ext uri="{FF2B5EF4-FFF2-40B4-BE49-F238E27FC236}">
                <a16:creationId xmlns:a16="http://schemas.microsoft.com/office/drawing/2014/main" id="{0B213669-8064-447A-DAEB-D1780B35F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17" y="228738"/>
            <a:ext cx="793072" cy="793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6563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8F4CB-689A-AB87-5C03-E6467A384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6645"/>
            <a:ext cx="10515600" cy="625368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292DC8"/>
                </a:solidFill>
                <a:latin typeface="TT Hoves"/>
              </a:rPr>
              <a:t>Project Background</a:t>
            </a:r>
            <a:endParaRPr lang="en-GB" sz="2800" b="1" dirty="0">
              <a:solidFill>
                <a:srgbClr val="292DC8"/>
              </a:solidFill>
              <a:latin typeface="TT Hove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6E470-9E01-BFB4-B82A-B6C2D70E1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3188"/>
            <a:ext cx="10515600" cy="390428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400" dirty="0"/>
              <a:t>Project </a:t>
            </a:r>
            <a:r>
              <a:rPr lang="en-GB" sz="2400" dirty="0" err="1"/>
              <a:t>ini</a:t>
            </a:r>
            <a:r>
              <a:rPr lang="en-GB" sz="2400" dirty="0"/>
              <a:t> </a:t>
            </a:r>
            <a:r>
              <a:rPr lang="en-GB" sz="2400" dirty="0" err="1"/>
              <a:t>bertujuan</a:t>
            </a:r>
            <a:r>
              <a:rPr lang="en-GB" sz="2400" dirty="0"/>
              <a:t> </a:t>
            </a:r>
            <a:r>
              <a:rPr lang="en-GB" sz="2400" dirty="0" err="1"/>
              <a:t>untuk</a:t>
            </a:r>
            <a:r>
              <a:rPr lang="en-GB" sz="2400" dirty="0"/>
              <a:t> </a:t>
            </a:r>
            <a:r>
              <a:rPr lang="en-GB" sz="2400" dirty="0" err="1"/>
              <a:t>membangun</a:t>
            </a:r>
            <a:r>
              <a:rPr lang="en-GB" sz="2400" dirty="0"/>
              <a:t> pipeline data yang </a:t>
            </a:r>
            <a:r>
              <a:rPr lang="en-GB" sz="2400" dirty="0" err="1"/>
              <a:t>mengumpulkan</a:t>
            </a:r>
            <a:r>
              <a:rPr lang="en-GB" sz="2400" dirty="0"/>
              <a:t> dan </a:t>
            </a:r>
            <a:r>
              <a:rPr lang="en-GB" sz="2400" dirty="0" err="1"/>
              <a:t>menganalisis</a:t>
            </a:r>
            <a:r>
              <a:rPr lang="en-GB" sz="2400" dirty="0"/>
              <a:t> YouTube trending videos </a:t>
            </a:r>
            <a:r>
              <a:rPr lang="en-GB" sz="2400" dirty="0" err="1"/>
              <a:t>secara</a:t>
            </a:r>
            <a:r>
              <a:rPr lang="en-GB" sz="2400" dirty="0"/>
              <a:t> </a:t>
            </a:r>
            <a:r>
              <a:rPr lang="en-GB" sz="2400" dirty="0" err="1"/>
              <a:t>harian</a:t>
            </a:r>
            <a:r>
              <a:rPr lang="en-GB" sz="2400" dirty="0"/>
              <a:t> </a:t>
            </a:r>
            <a:r>
              <a:rPr lang="en-GB" sz="2400" dirty="0" err="1"/>
              <a:t>berdasarkan</a:t>
            </a:r>
            <a:r>
              <a:rPr lang="en-GB" sz="2400" dirty="0"/>
              <a:t> query </a:t>
            </a:r>
            <a:r>
              <a:rPr lang="en-GB" sz="2400" dirty="0" err="1"/>
              <a:t>subjek</a:t>
            </a:r>
            <a:r>
              <a:rPr lang="en-GB" sz="2400" dirty="0"/>
              <a:t> </a:t>
            </a:r>
            <a:r>
              <a:rPr lang="en-GB" sz="2400" dirty="0" err="1"/>
              <a:t>pekerjaan</a:t>
            </a:r>
            <a:r>
              <a:rPr lang="en-GB" sz="2400" dirty="0"/>
              <a:t> </a:t>
            </a:r>
            <a:r>
              <a:rPr lang="en-GB" sz="2400" dirty="0" err="1"/>
              <a:t>profesional</a:t>
            </a:r>
            <a:r>
              <a:rPr lang="en-GB" sz="2400" dirty="0"/>
              <a:t> (</a:t>
            </a:r>
            <a:r>
              <a:rPr lang="en-GB" sz="2400" dirty="0" err="1"/>
              <a:t>seperti</a:t>
            </a:r>
            <a:r>
              <a:rPr lang="en-GB" sz="2400" dirty="0"/>
              <a:t> Data Engineer, DevOps, Finance, dan </a:t>
            </a:r>
            <a:r>
              <a:rPr lang="en-GB" sz="2400" dirty="0" err="1"/>
              <a:t>lainnya</a:t>
            </a:r>
            <a:r>
              <a:rPr lang="en-GB" sz="2400" dirty="0"/>
              <a:t>).</a:t>
            </a:r>
          </a:p>
          <a:p>
            <a:pPr marL="0" indent="0" algn="just">
              <a:buNone/>
            </a:pPr>
            <a:endParaRPr lang="en-GB" sz="2400" dirty="0"/>
          </a:p>
          <a:p>
            <a:pPr marL="0" indent="0" algn="just">
              <a:buNone/>
            </a:pPr>
            <a:r>
              <a:rPr lang="en-GB" sz="2400" dirty="0"/>
              <a:t>Data yang </a:t>
            </a:r>
            <a:r>
              <a:rPr lang="en-GB" sz="2400" dirty="0" err="1"/>
              <a:t>dikumpulkan</a:t>
            </a:r>
            <a:r>
              <a:rPr lang="en-GB" sz="2400" dirty="0"/>
              <a:t> </a:t>
            </a:r>
            <a:r>
              <a:rPr lang="en-GB" sz="2400" dirty="0" err="1"/>
              <a:t>mencakup</a:t>
            </a:r>
            <a:r>
              <a:rPr lang="en-GB" sz="2400" dirty="0"/>
              <a:t> metadata video (views, likes, comments, published date) </a:t>
            </a:r>
            <a:r>
              <a:rPr lang="en-GB" sz="2400" dirty="0" err="1"/>
              <a:t>serta</a:t>
            </a:r>
            <a:r>
              <a:rPr lang="en-GB" sz="2400" dirty="0"/>
              <a:t> </a:t>
            </a:r>
            <a:r>
              <a:rPr lang="en-GB" sz="2400" dirty="0" err="1"/>
              <a:t>analisis</a:t>
            </a:r>
            <a:r>
              <a:rPr lang="en-GB" sz="2400" dirty="0"/>
              <a:t> </a:t>
            </a:r>
            <a:r>
              <a:rPr lang="en-GB" sz="2400" dirty="0" err="1"/>
              <a:t>sentimen</a:t>
            </a:r>
            <a:r>
              <a:rPr lang="en-GB" sz="2400" dirty="0"/>
              <a:t> </a:t>
            </a:r>
            <a:r>
              <a:rPr lang="en-GB" sz="2400" dirty="0" err="1"/>
              <a:t>dari</a:t>
            </a:r>
            <a:r>
              <a:rPr lang="en-GB" sz="2400" dirty="0"/>
              <a:t> top comments </a:t>
            </a:r>
            <a:r>
              <a:rPr lang="en-GB" sz="2400" dirty="0" err="1"/>
              <a:t>untuk</a:t>
            </a:r>
            <a:r>
              <a:rPr lang="en-GB" sz="2400" dirty="0"/>
              <a:t> </a:t>
            </a:r>
            <a:r>
              <a:rPr lang="en-GB" sz="2400" dirty="0" err="1"/>
              <a:t>memberikan</a:t>
            </a:r>
            <a:r>
              <a:rPr lang="en-GB" sz="2400" dirty="0"/>
              <a:t> insight </a:t>
            </a:r>
            <a:r>
              <a:rPr lang="en-GB" sz="2400" dirty="0" err="1"/>
              <a:t>terhadap</a:t>
            </a:r>
            <a:r>
              <a:rPr lang="en-GB" sz="2400" dirty="0"/>
              <a:t> </a:t>
            </a:r>
            <a:r>
              <a:rPr lang="en-GB" sz="2400" dirty="0" err="1"/>
              <a:t>performa</a:t>
            </a:r>
            <a:r>
              <a:rPr lang="en-GB" sz="2400" dirty="0"/>
              <a:t> dan </a:t>
            </a:r>
            <a:r>
              <a:rPr lang="en-GB" sz="2400" dirty="0" err="1"/>
              <a:t>respons</a:t>
            </a:r>
            <a:r>
              <a:rPr lang="en-GB" sz="2400" dirty="0"/>
              <a:t> </a:t>
            </a:r>
            <a:r>
              <a:rPr lang="en-GB" sz="2400" dirty="0" err="1"/>
              <a:t>audiens</a:t>
            </a:r>
            <a:r>
              <a:rPr lang="en-GB" sz="2400" dirty="0"/>
              <a:t>.</a:t>
            </a:r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r>
              <a:rPr lang="en-GB" sz="2400" dirty="0"/>
              <a:t>Hasil data yang </a:t>
            </a:r>
            <a:r>
              <a:rPr lang="en-GB" sz="2400" dirty="0" err="1"/>
              <a:t>telah</a:t>
            </a:r>
            <a:r>
              <a:rPr lang="en-GB" sz="2400" dirty="0"/>
              <a:t> </a:t>
            </a:r>
            <a:r>
              <a:rPr lang="en-GB" sz="2400" dirty="0" err="1"/>
              <a:t>diproses</a:t>
            </a:r>
            <a:r>
              <a:rPr lang="en-GB" sz="2400" dirty="0"/>
              <a:t> </a:t>
            </a:r>
            <a:r>
              <a:rPr lang="en-GB" sz="2400" dirty="0" err="1"/>
              <a:t>disiapkan</a:t>
            </a:r>
            <a:r>
              <a:rPr lang="en-GB" sz="2400" dirty="0"/>
              <a:t> dan </a:t>
            </a:r>
            <a:r>
              <a:rPr lang="en-GB" sz="2400" dirty="0" err="1"/>
              <a:t>divisualisasikan</a:t>
            </a:r>
            <a:r>
              <a:rPr lang="en-GB" sz="2400" dirty="0"/>
              <a:t> </a:t>
            </a:r>
            <a:r>
              <a:rPr lang="en-GB" sz="2400" dirty="0" err="1"/>
              <a:t>melalui</a:t>
            </a:r>
            <a:r>
              <a:rPr lang="en-GB" sz="2400" dirty="0"/>
              <a:t> dashboard </a:t>
            </a:r>
            <a:r>
              <a:rPr lang="en-GB" sz="2400" dirty="0" err="1"/>
              <a:t>untuk</a:t>
            </a:r>
            <a:r>
              <a:rPr lang="en-GB" sz="2400" dirty="0"/>
              <a:t> </a:t>
            </a:r>
            <a:r>
              <a:rPr lang="en-GB" sz="2400" dirty="0" err="1"/>
              <a:t>melihat</a:t>
            </a:r>
            <a:r>
              <a:rPr lang="en-GB" sz="2400" dirty="0"/>
              <a:t> </a:t>
            </a:r>
            <a:r>
              <a:rPr lang="en-GB" sz="2400" dirty="0" err="1"/>
              <a:t>tren</a:t>
            </a:r>
            <a:r>
              <a:rPr lang="en-GB" sz="2400" dirty="0"/>
              <a:t> </a:t>
            </a:r>
            <a:r>
              <a:rPr lang="en-GB" sz="2400" dirty="0" err="1"/>
              <a:t>konten</a:t>
            </a:r>
            <a:r>
              <a:rPr lang="en-GB" sz="2400" dirty="0"/>
              <a:t>, </a:t>
            </a:r>
            <a:r>
              <a:rPr lang="en-GB" sz="2400" dirty="0" err="1"/>
              <a:t>referensi</a:t>
            </a:r>
            <a:r>
              <a:rPr lang="en-GB" sz="2400" dirty="0"/>
              <a:t> video dan </a:t>
            </a:r>
            <a:r>
              <a:rPr lang="en-GB" sz="2400" dirty="0" err="1"/>
              <a:t>analisa</a:t>
            </a:r>
            <a:r>
              <a:rPr lang="en-GB" sz="2400" dirty="0"/>
              <a:t> data.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69420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82049-095C-C4A4-3BF8-AC995DA6B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9073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140FBE-F3B6-AFB8-6325-D8857BD87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5"/>
            <a:ext cx="12192000" cy="6845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257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11621-E693-8275-3517-B9F588CB2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928" y="125429"/>
            <a:ext cx="10515600" cy="40723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292DC8"/>
                </a:solidFill>
                <a:latin typeface="TT Hoves"/>
              </a:rPr>
              <a:t>Dashboard Example</a:t>
            </a:r>
            <a:endParaRPr lang="en-GB" sz="3200" b="1" dirty="0">
              <a:solidFill>
                <a:srgbClr val="292DC8"/>
              </a:solidFill>
              <a:latin typeface="TT Hove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D75209-8826-F1DA-6B8A-23EEC8807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678994"/>
            <a:ext cx="10515601" cy="597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54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2597C-130B-EEEC-9665-CAB10008B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292DC8"/>
                </a:solidFill>
                <a:latin typeface="TT Hoves"/>
              </a:rPr>
              <a:t>Thank You</a:t>
            </a:r>
            <a:endParaRPr lang="en-GB" b="1" dirty="0">
              <a:solidFill>
                <a:srgbClr val="292DC8"/>
              </a:solidFill>
              <a:latin typeface="TT Hoves"/>
            </a:endParaRPr>
          </a:p>
        </p:txBody>
      </p:sp>
    </p:spTree>
    <p:extLst>
      <p:ext uri="{BB962C8B-B14F-4D97-AF65-F5344CB8AC3E}">
        <p14:creationId xmlns:p14="http://schemas.microsoft.com/office/powerpoint/2010/main" val="2759037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113</Words>
  <Application>Microsoft Office PowerPoint</Application>
  <PresentationFormat>Widescreen</PresentationFormat>
  <Paragraphs>11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TT Hoves</vt:lpstr>
      <vt:lpstr>Arial</vt:lpstr>
      <vt:lpstr>Calibri</vt:lpstr>
      <vt:lpstr>Calibri Light</vt:lpstr>
      <vt:lpstr>Office Theme</vt:lpstr>
      <vt:lpstr>DE Final Project   YouTube Trending Video Analytics &amp; Sentiment Pipeline </vt:lpstr>
      <vt:lpstr>Project Background</vt:lpstr>
      <vt:lpstr>PowerPoint Presentation</vt:lpstr>
      <vt:lpstr>Dashboard Example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Luthfi Arif</dc:creator>
  <cp:lastModifiedBy>Luthfi Arif</cp:lastModifiedBy>
  <cp:revision>5</cp:revision>
  <dcterms:created xsi:type="dcterms:W3CDTF">2026-01-17T06:36:38Z</dcterms:created>
  <dcterms:modified xsi:type="dcterms:W3CDTF">2026-01-18T01:57:16Z</dcterms:modified>
</cp:coreProperties>
</file>